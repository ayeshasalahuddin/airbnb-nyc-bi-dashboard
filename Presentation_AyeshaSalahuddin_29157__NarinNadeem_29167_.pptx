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63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315200" y="365760"/>
            <a:ext cx="1371600" cy="1371600"/>
          </a:xfrm>
          <a:prstGeom prst="ellipse">
            <a:avLst/>
          </a:prstGeom>
          <a:solidFill>
            <a:srgbClr val="FF5A5F">
              <a:alpha val="20000"/>
            </a:srgbClr>
          </a:solidFill>
          <a:ln w="254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498080" y="548640"/>
            <a:ext cx="1005840" cy="1005840"/>
          </a:xfrm>
          <a:prstGeom prst="ellipse">
            <a:avLst/>
          </a:prstGeom>
          <a:solidFill>
            <a:srgbClr val="FF5A5F">
              <a:alpha val="40000"/>
            </a:srgbClr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NYC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Supply-Demand BI Dashboard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City Airbnb Open Data Analysis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Salahuddin (29157)  |  Narin Nadeem (29167)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Open Data from Kaggle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65760" y="4251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Supply-Demand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425196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200400" y="4251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&amp; Quality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425196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035040" y="4251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Revenue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 Interview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Shahmeer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08483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Asst. Manager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Excellence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70662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Livedin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284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32841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Rental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(Pakistan)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50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linkedin.com/in/mshahr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960120"/>
            <a:ext cx="544068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290320000" dist="48387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337560" y="960120"/>
            <a:ext cx="54406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337560" y="96012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 Identified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554480"/>
            <a:ext cx="347472" cy="34747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47472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13632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Arrives Too Late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13632" y="17830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reports mean demand surges are identified days after they begin, too late to act on host recruitment or pricing.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359152"/>
            <a:ext cx="347472" cy="34747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474720" y="2359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13632" y="2313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Alerts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13632" y="258775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flags when supply-demand gap crosses a critical threshold in a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all monitoring is manual.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3163824"/>
            <a:ext cx="347472" cy="34747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474720" y="3163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13632" y="31181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Cannot Scale Quickly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13632" y="339242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 new property live takes several days minimum, the team can't respond to demand spikes in real time.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3968496"/>
            <a:ext cx="347472" cy="34747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3474720" y="3968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13632" y="39227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Lack Granularity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13632" y="4115431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tools (QuickSight + PriceLabs) provide market-level data but don't go deep enough into the customer journey.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the time I see the data, it's too late."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Map - Regional Operations Manager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4297680" cy="18745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46888" y="86868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&amp; FEEL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" y="1179576"/>
            <a:ext cx="4078224" cy="0"/>
          </a:xfrm>
          <a:prstGeom prst="line">
            <a:avLst/>
          </a:prstGeom>
          <a:noFill/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46888" y="1234440"/>
            <a:ext cx="40782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 data arrives too late to act 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 about sudden demand surges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Pressured to recruit hosts faster than tools allow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Motivated to leverage AI and automation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97680" cy="1874520"/>
          </a:xfrm>
          <a:prstGeom prst="rect">
            <a:avLst/>
          </a:prstGeom>
          <a:solidFill>
            <a:srgbClr val="EEF3FF"/>
          </a:solidFill>
          <a:ln w="12700">
            <a:solidFill>
              <a:srgbClr val="AABBD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818888" y="86868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B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18888" y="1179576"/>
            <a:ext cx="4078224" cy="0"/>
          </a:xfrm>
          <a:prstGeom prst="line">
            <a:avLst/>
          </a:prstGeom>
          <a:noFill/>
          <a:ln w="12700">
            <a:solidFill>
              <a:srgbClr val="AABB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18888" y="1234440"/>
            <a:ext cx="40782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QuickSight dashboards with lagging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PriceLabs market pricing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On-ground property audit reports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reacting faster to market shifts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" y="2788920"/>
            <a:ext cx="4297680" cy="1554480"/>
          </a:xfrm>
          <a:prstGeom prst="rect">
            <a:avLst/>
          </a:prstGeom>
          <a:solidFill>
            <a:srgbClr val="F5F0FF"/>
          </a:solidFill>
          <a:ln w="12700">
            <a:solidFill>
              <a:srgbClr val="CCAA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46888" y="288036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22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" y="3191256"/>
            <a:ext cx="4078224" cy="0"/>
          </a:xfrm>
          <a:prstGeom prst="line">
            <a:avLst/>
          </a:prstGeom>
          <a:noFill/>
          <a:ln w="12700">
            <a:solidFill>
              <a:srgbClr val="CCAAE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46888" y="3246120"/>
            <a:ext cx="4078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heads requesting efficiency improvements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feedback via integrated chat systems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team concerns about lead conversion rates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297680" cy="1554480"/>
          </a:xfrm>
          <a:prstGeom prst="rect">
            <a:avLst/>
          </a:prstGeom>
          <a:solidFill>
            <a:srgbClr val="F0FFF5"/>
          </a:solidFill>
          <a:ln w="12700">
            <a:solidFill>
              <a:srgbClr val="AADDB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18888" y="288036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&amp; 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18888" y="3191256"/>
            <a:ext cx="4078224" cy="0"/>
          </a:xfrm>
          <a:prstGeom prst="line">
            <a:avLst/>
          </a:prstGeom>
          <a:noFill/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818888" y="3246120"/>
            <a:ext cx="4078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cross-references event calendars with booking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Conducts regular property audits with on-ground teams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building AI agents to automate guest communication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7160" y="4407408"/>
            <a:ext cx="429768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AA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37160" y="44074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4531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alerts  •  Lagging data  •  No granular customer journey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4407408"/>
            <a:ext cx="429768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709160" y="44074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44531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demand alerts  •  Early at-risk warning system  •  AI-powered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1 - Supply-Demand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301752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943600" y="777240"/>
            <a:ext cx="30175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943600" y="7772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53328" y="12801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053328" y="1280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84848" y="12618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listings across all 5 NYC boroughs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3328" y="17373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053328" y="17373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4848" y="1719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availability days per year (supply)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21945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053328" y="21945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84848" y="21762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reviews/month; our demand proxy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26517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053328" y="26517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84848" y="26334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listings needing urgent 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31089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053328" y="31089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84848" y="30906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Demand-supply gap score; market undersupplied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35661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053328" y="3566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84848" y="35478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activity peaked; COVID crash in 2020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53328" y="40233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053328" y="40233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84848" y="4005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booking month (1.11M reviews)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53328" y="4480560"/>
            <a:ext cx="658368" cy="2743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053328" y="44805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 Oaks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84848" y="44622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priority neighbourhood for host recruitment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CB2767-23CD-8768-863D-C4CF2251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" y="780392"/>
            <a:ext cx="5886844" cy="4157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2 - At-Risk &amp; Quality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301752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943600" y="777240"/>
            <a:ext cx="30175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943600" y="7772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53328" y="12801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053328" y="1280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84848" y="12618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listings showing quality decline signals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3328" y="17373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053328" y="17373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4848" y="1719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inactive listings (0 reviews, high avail)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21945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053328" y="21945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84848" y="21762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review rating across all NYC listings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26517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053328" y="26517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84848" y="26334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listings in Brooklyn — highest borough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31089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053328" y="31089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84848" y="30906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listings in Manhattan — second highest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35661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053328" y="3566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84848" y="35478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 managed by individual hosts (&lt;5 listings)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53328" y="40233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053328" y="40233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84848" y="4005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rooms have the highest avg rating by type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53328" y="4480560"/>
            <a:ext cx="658368" cy="27432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053328" y="44805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84848" y="44622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listings concentrated in Manhattan &amp; Brooklyn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99DBFD8-65B7-335F-1FFA-1B8CAFB3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4" y="777240"/>
            <a:ext cx="5866050" cy="4299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3 - Pricing &amp; Revenue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777240"/>
            <a:ext cx="557784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777240"/>
            <a:ext cx="301752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943600" y="777240"/>
            <a:ext cx="30175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943600" y="7772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53328" y="12801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053328" y="1280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84848" y="12618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nightly price — uniform across all boroughs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3328" y="17373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053328" y="17373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84848" y="1719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cheapest &amp; most expensive borough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21945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053328" y="21945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4848" y="21762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rooms — highest avg price by room type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26517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053328" y="26517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26334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price and rating (near zero)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31089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053328" y="31089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$1,045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30906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Dorp, Staten Island — most expensive neighbourhood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35661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053328" y="35661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Staten I.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35478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most expensive areas — all in Staten Island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53328" y="40233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053328" y="40233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4848" y="40050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Queens — highest avg price borough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53328" y="4480560"/>
            <a:ext cx="65836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053328" y="44805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84848" y="446227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— lowest avg price borough (surprising!)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79FA8E-0DCE-55F3-6F57-083E1BEB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" y="777240"/>
            <a:ext cx="5740848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NYC Airbnb Supply-Demand 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05740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057400" cy="64008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82880" y="822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102K listings but 7K are at-risk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 are completely inactive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 is REACTIVE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only after demand has passed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011680"/>
            <a:ext cx="155448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395728" y="822960"/>
            <a:ext cx="205740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395728" y="822960"/>
            <a:ext cx="2057400" cy="640080"/>
          </a:xfrm>
          <a:prstGeom prst="rect">
            <a:avLst/>
          </a:prstGeom>
          <a:solidFill>
            <a:srgbClr val="4575B4"/>
          </a:solidFill>
          <a:ln w="12700">
            <a:solidFill>
              <a:srgbClr val="4575B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2395728" y="822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98648" y="822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157276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peaked in 2019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crash in 2020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&amp; Brooklyn: lowest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availability, highest demand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53128" y="2011680"/>
            <a:ext cx="155448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608576" y="822960"/>
            <a:ext cx="205740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4608576" y="822960"/>
            <a:ext cx="2057400" cy="6400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608576" y="822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11496" y="822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157276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Brooklyn: 3,300 at-risk listings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Manhattan: 3,000 at-risk listings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reviews + low ratings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quality degradation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65976" y="2011680"/>
            <a:ext cx="155448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821424" y="822960"/>
            <a:ext cx="205740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821424" y="822960"/>
            <a:ext cx="20574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821424" y="822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24344" y="822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58584" y="157276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hosts in Glen Oaks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Creek (highest gap areas)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hotel rooms ($668 avg)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= act in hours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20040" y="48508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dashboard moves the operations team from REACTIVE to PROACTIVE decision-making; identifying gaps before revenue is lost.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682</Words>
  <Application>Microsoft Office PowerPoint</Application>
  <PresentationFormat>On-screen Show (16:9)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NYC BI Dashboard Presentation</dc:title>
  <dc:subject>PptxGenJS Presentation</dc:subject>
  <dc:creator>PptxGenJS</dc:creator>
  <cp:lastModifiedBy>Ayesha Salahuddin</cp:lastModifiedBy>
  <cp:revision>2</cp:revision>
  <dcterms:created xsi:type="dcterms:W3CDTF">2026-05-11T23:00:12Z</dcterms:created>
  <dcterms:modified xsi:type="dcterms:W3CDTF">2026-05-11T23:13:26Z</dcterms:modified>
</cp:coreProperties>
</file>